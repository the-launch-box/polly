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4"/>
  </p:sldMasterIdLst>
  <p:notesMasterIdLst>
    <p:notesMasterId r:id="rId15"/>
  </p:notesMasterIdLst>
  <p:sldIdLst>
    <p:sldId id="256" r:id="rId5"/>
    <p:sldId id="2134805090" r:id="rId6"/>
    <p:sldId id="2134805088" r:id="rId7"/>
    <p:sldId id="2134805089" r:id="rId8"/>
    <p:sldId id="2134805086" r:id="rId9"/>
    <p:sldId id="2134805091" r:id="rId10"/>
    <p:sldId id="2134805092" r:id="rId11"/>
    <p:sldId id="2134805083" r:id="rId12"/>
    <p:sldId id="2134804996" r:id="rId13"/>
    <p:sldId id="2134804997" r:id="rId14"/>
  </p:sldIdLst>
  <p:sldSz cx="12192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DA7F-B206-4C8F-AA6B-336F6C1E43C7}" v="209" dt="2024-01-29T19:50:31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0" autoAdjust="0"/>
    <p:restoredTop sz="89425" autoAdjust="0"/>
  </p:normalViewPr>
  <p:slideViewPr>
    <p:cSldViewPr snapToGrid="0" snapToObjects="1">
      <p:cViewPr varScale="1">
        <p:scale>
          <a:sx n="104" d="100"/>
          <a:sy n="104" d="100"/>
        </p:scale>
        <p:origin x="3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Kenly" userId="d18500b8bef00064" providerId="LiveId" clId="{518055CD-8C9F-49AC-8121-5149BBE4439E}"/>
    <pc:docChg chg="custSel addSld modSld sldOrd">
      <pc:chgData name="Amy Kenly" userId="d18500b8bef00064" providerId="LiveId" clId="{518055CD-8C9F-49AC-8121-5149BBE4439E}" dt="2024-01-25T16:54:41.387" v="1703" actId="13926"/>
      <pc:docMkLst>
        <pc:docMk/>
      </pc:docMkLst>
      <pc:sldChg chg="modSp mod modNotesTx">
        <pc:chgData name="Amy Kenly" userId="d18500b8bef00064" providerId="LiveId" clId="{518055CD-8C9F-49AC-8121-5149BBE4439E}" dt="2024-01-25T16:54:41.387" v="1703" actId="13926"/>
        <pc:sldMkLst>
          <pc:docMk/>
          <pc:sldMk cId="2634934525" sldId="2134805088"/>
        </pc:sldMkLst>
        <pc:spChg chg="mod">
          <ac:chgData name="Amy Kenly" userId="d18500b8bef00064" providerId="LiveId" clId="{518055CD-8C9F-49AC-8121-5149BBE4439E}" dt="2024-01-24T22:11:35.999" v="369" actId="20577"/>
          <ac:spMkLst>
            <pc:docMk/>
            <pc:sldMk cId="2634934525" sldId="2134805088"/>
            <ac:spMk id="6" creationId="{C1EA1002-7B5B-2D43-B030-CE317EDE88AE}"/>
          </ac:spMkLst>
        </pc:spChg>
        <pc:spChg chg="mod">
          <ac:chgData name="Amy Kenly" userId="d18500b8bef00064" providerId="LiveId" clId="{518055CD-8C9F-49AC-8121-5149BBE4439E}" dt="2024-01-22T20:28:09.493" v="18" actId="115"/>
          <ac:spMkLst>
            <pc:docMk/>
            <pc:sldMk cId="2634934525" sldId="2134805088"/>
            <ac:spMk id="7" creationId="{14B49115-7147-8E49-938D-7B25139FECE8}"/>
          </ac:spMkLst>
        </pc:spChg>
        <pc:graphicFrameChg chg="mod modGraphic">
          <ac:chgData name="Amy Kenly" userId="d18500b8bef00064" providerId="LiveId" clId="{518055CD-8C9F-49AC-8121-5149BBE4439E}" dt="2024-01-25T16:54:41.387" v="1703" actId="13926"/>
          <ac:graphicFrameMkLst>
            <pc:docMk/>
            <pc:sldMk cId="2634934525" sldId="2134805088"/>
            <ac:graphicFrameMk id="3" creationId="{4CF4CB74-2006-D99E-D1C6-E0FF5EA6E38C}"/>
          </ac:graphicFrameMkLst>
        </pc:graphicFrameChg>
      </pc:sldChg>
      <pc:sldChg chg="modSp mod modNotesTx">
        <pc:chgData name="Amy Kenly" userId="d18500b8bef00064" providerId="LiveId" clId="{518055CD-8C9F-49AC-8121-5149BBE4439E}" dt="2024-01-24T22:12:38.760" v="428" actId="20577"/>
        <pc:sldMkLst>
          <pc:docMk/>
          <pc:sldMk cId="3388390123" sldId="2134805089"/>
        </pc:sldMkLst>
        <pc:spChg chg="mod">
          <ac:chgData name="Amy Kenly" userId="d18500b8bef00064" providerId="LiveId" clId="{518055CD-8C9F-49AC-8121-5149BBE4439E}" dt="2024-01-24T22:12:38.760" v="428" actId="20577"/>
          <ac:spMkLst>
            <pc:docMk/>
            <pc:sldMk cId="3388390123" sldId="2134805089"/>
            <ac:spMk id="7" creationId="{14B49115-7147-8E49-938D-7B25139FECE8}"/>
          </ac:spMkLst>
        </pc:spChg>
      </pc:sldChg>
      <pc:sldChg chg="addSp modSp new mod ord modNotesTx">
        <pc:chgData name="Amy Kenly" userId="d18500b8bef00064" providerId="LiveId" clId="{518055CD-8C9F-49AC-8121-5149BBE4439E}" dt="2024-01-25T16:17:20.164" v="652" actId="20577"/>
        <pc:sldMkLst>
          <pc:docMk/>
          <pc:sldMk cId="601005828" sldId="2134805090"/>
        </pc:sldMkLst>
        <pc:picChg chg="add mod">
          <ac:chgData name="Amy Kenly" userId="d18500b8bef00064" providerId="LiveId" clId="{518055CD-8C9F-49AC-8121-5149BBE4439E}" dt="2024-01-22T20:22:41.926" v="7" actId="1076"/>
          <ac:picMkLst>
            <pc:docMk/>
            <pc:sldMk cId="601005828" sldId="2134805090"/>
            <ac:picMk id="6" creationId="{99CFF737-FB11-3AB9-6134-38EA17038F73}"/>
          </ac:picMkLst>
        </pc:picChg>
      </pc:sldChg>
      <pc:sldChg chg="modSp new mod ord modNotesTx">
        <pc:chgData name="Amy Kenly" userId="d18500b8bef00064" providerId="LiveId" clId="{518055CD-8C9F-49AC-8121-5149BBE4439E}" dt="2024-01-25T15:54:07.744" v="510" actId="6549"/>
        <pc:sldMkLst>
          <pc:docMk/>
          <pc:sldMk cId="2294242193" sldId="2134805091"/>
        </pc:sldMkLst>
        <pc:spChg chg="mod">
          <ac:chgData name="Amy Kenly" userId="d18500b8bef00064" providerId="LiveId" clId="{518055CD-8C9F-49AC-8121-5149BBE4439E}" dt="2024-01-25T15:54:03.702" v="509" actId="20577"/>
          <ac:spMkLst>
            <pc:docMk/>
            <pc:sldMk cId="2294242193" sldId="2134805091"/>
            <ac:spMk id="5" creationId="{63FB8C39-655A-72A3-FE8C-70490A46BE1A}"/>
          </ac:spMkLst>
        </pc:spChg>
      </pc:sldChg>
      <pc:sldChg chg="modSp add mod">
        <pc:chgData name="Amy Kenly" userId="d18500b8bef00064" providerId="LiveId" clId="{518055CD-8C9F-49AC-8121-5149BBE4439E}" dt="2024-01-24T22:55:14.607" v="469" actId="20577"/>
        <pc:sldMkLst>
          <pc:docMk/>
          <pc:sldMk cId="63206498" sldId="2134805092"/>
        </pc:sldMkLst>
        <pc:spChg chg="mod">
          <ac:chgData name="Amy Kenly" userId="d18500b8bef00064" providerId="LiveId" clId="{518055CD-8C9F-49AC-8121-5149BBE4439E}" dt="2024-01-24T22:55:14.607" v="469" actId="20577"/>
          <ac:spMkLst>
            <pc:docMk/>
            <pc:sldMk cId="63206498" sldId="2134805092"/>
            <ac:spMk id="6" creationId="{C1EA1002-7B5B-2D43-B030-CE317EDE88AE}"/>
          </ac:spMkLst>
        </pc:spChg>
      </pc:sldChg>
    </pc:docChg>
  </pc:docChgLst>
  <pc:docChgLst>
    <pc:chgData name="Guest User" userId="S::urn:spo:anon#e779396a132cd447a0a5a86eb26ead77998729a29355319ad3bad673f1695d3f::" providerId="AD" clId="Web-{6B50DA7F-B206-4C8F-AA6B-336F6C1E43C7}"/>
    <pc:docChg chg="modSld">
      <pc:chgData name="Guest User" userId="S::urn:spo:anon#e779396a132cd447a0a5a86eb26ead77998729a29355319ad3bad673f1695d3f::" providerId="AD" clId="Web-{6B50DA7F-B206-4C8F-AA6B-336F6C1E43C7}" dt="2024-01-29T19:50:27.989" v="203"/>
      <pc:docMkLst>
        <pc:docMk/>
      </pc:docMkLst>
      <pc:sldChg chg="modSp">
        <pc:chgData name="Guest User" userId="S::urn:spo:anon#e779396a132cd447a0a5a86eb26ead77998729a29355319ad3bad673f1695d3f::" providerId="AD" clId="Web-{6B50DA7F-B206-4C8F-AA6B-336F6C1E43C7}" dt="2024-01-29T19:50:27.989" v="203"/>
        <pc:sldMkLst>
          <pc:docMk/>
          <pc:sldMk cId="2634934525" sldId="2134805088"/>
        </pc:sldMkLst>
        <pc:graphicFrameChg chg="mod modGraphic">
          <ac:chgData name="Guest User" userId="S::urn:spo:anon#e779396a132cd447a0a5a86eb26ead77998729a29355319ad3bad673f1695d3f::" providerId="AD" clId="Web-{6B50DA7F-B206-4C8F-AA6B-336F6C1E43C7}" dt="2024-01-29T19:50:27.989" v="203"/>
          <ac:graphicFrameMkLst>
            <pc:docMk/>
            <pc:sldMk cId="2634934525" sldId="2134805088"/>
            <ac:graphicFrameMk id="3" creationId="{4CF4CB74-2006-D99E-D1C6-E0FF5EA6E38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3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CPG, high tech, retail, </a:t>
            </a:r>
            <a:r>
              <a:rPr lang="en-US" dirty="0" err="1"/>
              <a:t>finserv</a:t>
            </a:r>
            <a:r>
              <a:rPr lang="en-US" dirty="0"/>
              <a:t>, </a:t>
            </a:r>
            <a:r>
              <a:rPr lang="en-US" dirty="0" err="1"/>
              <a:t>mfg</a:t>
            </a:r>
            <a:r>
              <a:rPr lang="en-US" dirty="0"/>
              <a:t>, TTH, media &amp; entertainment</a:t>
            </a:r>
          </a:p>
          <a:p>
            <a:r>
              <a:rPr lang="en-US" dirty="0"/>
              <a:t>Auto secondary?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CPG, high tech, retail, </a:t>
            </a:r>
            <a:r>
              <a:rPr lang="en-US" dirty="0" err="1"/>
              <a:t>finserv</a:t>
            </a:r>
            <a:r>
              <a:rPr lang="en-US" dirty="0"/>
              <a:t> (good relationships), </a:t>
            </a:r>
            <a:r>
              <a:rPr lang="en-US" dirty="0" err="1"/>
              <a:t>mfg</a:t>
            </a:r>
            <a:r>
              <a:rPr lang="en-US" dirty="0"/>
              <a:t>, TTH, media &amp; entertainment</a:t>
            </a:r>
            <a:endParaRPr lang="en-US" dirty="0">
              <a:cs typeface="Calibri"/>
            </a:endParaRPr>
          </a:p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Dan – retail, CPG content</a:t>
            </a:r>
          </a:p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MFG would be marketing cloud for service management</a:t>
            </a:r>
          </a:p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General MKTG – how salesforce transforms business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69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35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Awareness = learning/realizing that they need to do more than what they are doing </a:t>
            </a:r>
            <a:r>
              <a:rPr lang="en-US" dirty="0"/>
              <a:t>– learning, understanding</a:t>
            </a:r>
            <a:endParaRPr lang="en-US" dirty="0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Consideration = looking for firms like us </a:t>
            </a:r>
            <a:r>
              <a:rPr lang="en-US" dirty="0"/>
              <a:t>– could they also be looking to hire internal help? What’s the alternative to us?</a:t>
            </a:r>
            <a:endParaRPr lang="en-US" dirty="0"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Decision = deciding between you and a competitor or other alternatives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Loyalty/Growth = current (or previous client)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Advocacy / Closure = wrapping up work with us</a:t>
            </a:r>
            <a:r>
              <a:rPr lang="en-US" b="1" dirty="0">
                <a:cs typeface="Calibri"/>
              </a:rPr>
              <a:t>,</a:t>
            </a:r>
            <a:r>
              <a:rPr lang="en-US" b="0" dirty="0">
                <a:cs typeface="Calibri"/>
              </a:rPr>
              <a:t> what does offboarding look like while leaving the door open?</a:t>
            </a:r>
            <a:endParaRPr lang="en-US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28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06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Awareness = learning/realizing that they need to do more than what they are doing </a:t>
            </a:r>
            <a:r>
              <a:rPr lang="en-US" dirty="0"/>
              <a:t>– learning, understanding</a:t>
            </a:r>
            <a:endParaRPr lang="en-US" dirty="0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Consideration = looking for firms like us </a:t>
            </a:r>
            <a:r>
              <a:rPr lang="en-US" dirty="0"/>
              <a:t>– could they also be looking to hire internal help? What’s the alternative to us?</a:t>
            </a:r>
            <a:endParaRPr lang="en-US" dirty="0">
              <a:cs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Decision = deciding between you and a competitor or other alternatives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Loyalty/Growth = current (or previous client)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Advocacy / Closure = wrapping up work with us</a:t>
            </a:r>
            <a:r>
              <a:rPr lang="en-US" b="1" dirty="0">
                <a:cs typeface="Calibri"/>
              </a:rPr>
              <a:t>,</a:t>
            </a:r>
            <a:r>
              <a:rPr lang="en-US" b="0" dirty="0">
                <a:cs typeface="Calibri"/>
              </a:rPr>
              <a:t> what does offboarding look like while leaving the door open?</a:t>
            </a:r>
            <a:endParaRPr lang="en-US" b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63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Add links to </a:t>
            </a:r>
            <a:r>
              <a:rPr lang="en-US" dirty="0" err="1"/>
              <a:t>LinekdIn</a:t>
            </a:r>
            <a:r>
              <a:rPr lang="en-US" dirty="0"/>
              <a:t> profiles of people who fit this persona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9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Main Messaging Elements Summary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8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16991C2-4FF0-114C-B7CF-D3F8D697D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76FCC-B8BB-F84C-A20F-7CAB31E0BBA6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36402-A79A-BF42-9091-3F6D5D41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318FBA-5946-7A42-86F3-8924C892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728406F-4C65-284D-95B7-9D3B8CF3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9D30F3-9144-AB4D-A616-541ABA05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6B18EFE-24F0-6443-910A-0D80DE042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BCA87-EC7F-8A4B-BF12-591102263522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2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C6D8ADD-52AB-CA44-B4C6-97A9E9C80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3" y="3283440"/>
            <a:ext cx="2931215" cy="293121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0E0B908-F439-1E45-AA05-9A49EC8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45C9175-6256-3643-9AA2-DEB68AFC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5382E9-D5D5-4142-86D8-DDA9DB0F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161A220-C376-B140-9ED9-C150679D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1F6B2F-E4D0-4B4F-A55F-A118ABC534B1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2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45D6C41-F879-7B49-A81E-E945C51C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B45955-040F-5B4F-B215-8B007E3F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8D9009-6ACA-2243-BBC0-1C4FE9F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90A482C-6289-D54C-8D98-9E271CD84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9A8F1DF-26D0-CE44-AFA3-23C5A4C8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3432940"/>
            <a:ext cx="11049003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bg1"/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5C5791-934F-E042-9502-F4DF786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9001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1" b="0" cap="none" baseline="0">
                <a:solidFill>
                  <a:schemeClr val="tx1"/>
                </a:solidFill>
                <a:latin typeface="+mj-lt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8" y="1737360"/>
            <a:ext cx="5303520" cy="3887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6106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1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6105" y="1737360"/>
            <a:ext cx="5303520" cy="3887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>
            <a:lvl1pPr marL="514054" indent="-514054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2D5B-1CE0-944B-9527-24FC3B1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7B9B9839-7139-0445-8DA4-CE99F11AD909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46896D0-4CD5-8647-8C43-D07F7CA581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63596" y="6419634"/>
            <a:ext cx="5679113" cy="274320"/>
          </a:xfrm>
        </p:spPr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0F220A4-A661-C941-8411-A06C9DC85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EDF5659-A4FE-0D42-8483-B874501A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E78A9-65B1-4245-8BC6-1938144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55CE7-BADB-8F40-A51A-66835C7246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1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31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29B5F230-D09D-DD42-8B4A-E8CB61E5C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704FE58-29E9-BA4C-A500-0653CA90F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5B254B-1D81-454C-8C20-173E564331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27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B931038-146F-DF4E-82E9-DFB28338A0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C36FDA55-B43F-EB45-86A3-51877ABA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B8EDED-FF60-FE43-9FA1-82F96A2C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30F219-45B3-804C-B627-47C7774570C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6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47961E-1BE5-2440-97DB-D065A7882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7CEC201-BD8B-2040-A660-AC6853BDB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9456ED8-631E-AC45-81CB-42D9D153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6F607B-E1F8-6D4D-B193-11E73CA40B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6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26DA48-CBCD-0E4D-BFAA-6037B2675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E3B8CD3-06E9-3D4B-B9BC-8C1A4863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A48ABE-3B7F-FB40-BE4C-935F69C5E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98BCE4-FFEB-C949-BC63-F5C5321433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780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50E2B03-E35D-7E46-A0F6-6A5DBBF37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453F15AD-3076-3949-8F2D-D6E142F4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CA09B5-6D76-9142-9AB6-D6FB4291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B955B17-8ED0-3340-A5DC-849AED4FC3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9978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671A-7315-6E41-AC9A-F5B5B54B7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F66B414-0BAA-254F-A54B-9A4CBE4CF7B4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205E-93AF-7949-8B64-C4EBA6D05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A31D-E13C-5741-BAA2-AB9DABBF2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778A37E-23BC-0344-9DB3-4124A59F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E26A7-9EAF-F149-8AB0-E32BB4217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48A36-789B-7B41-8EDC-4773C78C8615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DD245C8-5B15-A649-9958-ECD44CCE3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3" y="1438487"/>
            <a:ext cx="3509072" cy="35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227FDA-5080-CC45-B12A-A26DABE79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2" y="1438487"/>
            <a:ext cx="3509072" cy="350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E75D-E6DE-4D4D-9737-80B131AB1896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914400"/>
            <a:ext cx="11049000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596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6519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D0DA7A-2DB9-7C40-BABD-C94E5F91332C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1711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hf hdr="0" ft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0" i="1" kern="1200" cap="all" spc="99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388" indent="-913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59555" indent="-319847" algn="l" defTabSz="913868" rtl="0" eaLnBrk="1" latinLnBrk="0" hangingPunct="1">
        <a:lnSpc>
          <a:spcPct val="100000"/>
        </a:lnSpc>
        <a:spcBef>
          <a:spcPts val="1200"/>
        </a:spcBef>
        <a:spcAft>
          <a:spcPts val="1800"/>
        </a:spcAft>
        <a:buClr>
          <a:schemeClr val="accent2"/>
        </a:buClr>
        <a:buSzPct val="100000"/>
        <a:buFont typeface="System Font Regular"/>
        <a:buChar char="➔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pos="3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Blue </a:t>
            </a:r>
            <a:r>
              <a:rPr lang="en-US"/>
              <a:t>Trail Digital </a:t>
            </a:r>
            <a:br>
              <a:rPr lang="en-US"/>
            </a:br>
            <a:r>
              <a:rPr lang="en-US"/>
              <a:t>Targeting </a:t>
            </a:r>
            <a:r>
              <a:rPr lang="en-US" dirty="0"/>
              <a:t>(ICP) brainstorm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/>
          <a:lstStyle/>
          <a:p>
            <a:r>
              <a:rPr lang="en-US" dirty="0"/>
              <a:t>GOAL: Define targeting, personas, buyer’s journey</a:t>
            </a:r>
          </a:p>
        </p:txBody>
      </p:sp>
    </p:spTree>
    <p:extLst>
      <p:ext uri="{BB962C8B-B14F-4D97-AF65-F5344CB8AC3E}">
        <p14:creationId xmlns:p14="http://schemas.microsoft.com/office/powerpoint/2010/main" val="66241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D382-A2B6-1B42-DBEC-58331742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2E08D-8BE8-E52A-4ADB-EEE6EB29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CB876-B445-844F-4A56-72B5183F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9CFF737-FB11-3AB9-6134-38EA1703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86" y="717412"/>
            <a:ext cx="9905393" cy="52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0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577126"/>
            <a:ext cx="11469189" cy="472126"/>
          </a:xfrm>
        </p:spPr>
        <p:txBody>
          <a:bodyPr vert="horz" lIns="45720" tIns="45720" rIns="4572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Your </a:t>
            </a:r>
            <a:r>
              <a:rPr lang="en-US" sz="2000" b="1" u="sng" dirty="0"/>
              <a:t>ideal</a:t>
            </a:r>
            <a:r>
              <a:rPr lang="en-US" sz="2000" b="1" dirty="0"/>
              <a:t> client (company level) – </a:t>
            </a:r>
            <a:r>
              <a:rPr lang="en-US" sz="2000" b="1" u="sng" dirty="0"/>
              <a:t>in priority order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TARGETING (ICP) – Direct outreach, COMPANY LEVEL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CF4CB74-2006-D99E-D1C6-E0FF5EA6E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600009"/>
              </p:ext>
            </p:extLst>
          </p:nvPr>
        </p:nvGraphicFramePr>
        <p:xfrm>
          <a:off x="126307" y="1033369"/>
          <a:ext cx="11857045" cy="519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160">
                  <a:extLst>
                    <a:ext uri="{9D8B030D-6E8A-4147-A177-3AD203B41FA5}">
                      <a16:colId xmlns:a16="http://schemas.microsoft.com/office/drawing/2014/main" val="4263287733"/>
                    </a:ext>
                  </a:extLst>
                </a:gridCol>
                <a:gridCol w="927132">
                  <a:extLst>
                    <a:ext uri="{9D8B030D-6E8A-4147-A177-3AD203B41FA5}">
                      <a16:colId xmlns:a16="http://schemas.microsoft.com/office/drawing/2014/main" val="3914170976"/>
                    </a:ext>
                  </a:extLst>
                </a:gridCol>
                <a:gridCol w="4590410">
                  <a:extLst>
                    <a:ext uri="{9D8B030D-6E8A-4147-A177-3AD203B41FA5}">
                      <a16:colId xmlns:a16="http://schemas.microsoft.com/office/drawing/2014/main" val="648191959"/>
                    </a:ext>
                  </a:extLst>
                </a:gridCol>
                <a:gridCol w="2000634">
                  <a:extLst>
                    <a:ext uri="{9D8B030D-6E8A-4147-A177-3AD203B41FA5}">
                      <a16:colId xmlns:a16="http://schemas.microsoft.com/office/drawing/2014/main" val="1356942908"/>
                    </a:ext>
                  </a:extLst>
                </a:gridCol>
                <a:gridCol w="2765709">
                  <a:extLst>
                    <a:ext uri="{9D8B030D-6E8A-4147-A177-3AD203B41FA5}">
                      <a16:colId xmlns:a16="http://schemas.microsoft.com/office/drawing/2014/main" val="261690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87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$50M+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Should have a CMO/VP Marketing already, does work in house, spending $15-$20k/month on paid advertising, already using Salesforce CRM, already using SF marketing cloud,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CMO/VP Marketing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Merchandising Lead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CIO/CTO (secondary)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Pepsi, J&amp;J, Micron, </a:t>
                      </a:r>
                      <a:r>
                        <a:rPr lang="en-US" sz="1400" dirty="0" err="1"/>
                        <a:t>Chiobani</a:t>
                      </a:r>
                      <a:r>
                        <a:rPr lang="en-US" sz="1400" dirty="0"/>
                        <a:t>, Simply Good, Daisy, Scrub Daddy, Lifeway, Black Rifle Coffee, Nespresso, Purina, L’Oreal, KC, Nestle/</a:t>
                      </a:r>
                      <a:r>
                        <a:rPr lang="en-US" sz="1400" dirty="0" err="1"/>
                        <a:t>Purelife</a:t>
                      </a:r>
                      <a:r>
                        <a:rPr lang="en-US" sz="1400" dirty="0"/>
                        <a:t>, Bayer (retail)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4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Retail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highlight>
                            <a:srgbClr val="FFFF00"/>
                          </a:highlight>
                        </a:rPr>
                        <a:t>$250M+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More sophisticated with marketing tech – has had marketing cloud and struggles for value, hiring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CMO/VP Marketing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Merchandising Lead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CIO/CTO (secondary)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Scrubs &amp; Beyond, </a:t>
                      </a:r>
                      <a:r>
                        <a:rPr lang="en-US" sz="1400" dirty="0" err="1"/>
                        <a:t>Underarmour</a:t>
                      </a:r>
                      <a:r>
                        <a:rPr lang="en-US" sz="1400" dirty="0"/>
                        <a:t>, Rag &amp; Bone, Clark’s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03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Financial Services (marketing focus)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Golden One CU, </a:t>
                      </a:r>
                      <a:r>
                        <a:rPr lang="en-US" sz="1400" dirty="0" err="1"/>
                        <a:t>BayPort</a:t>
                      </a:r>
                      <a:r>
                        <a:rPr lang="en-US" sz="1400" dirty="0"/>
                        <a:t> CU, Farm Credit, Mid America, Eastern Bank, First United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087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Travel, hospitality, sports </a:t>
                      </a:r>
                      <a:r>
                        <a:rPr lang="en-US" sz="1400" dirty="0" err="1"/>
                        <a:t>ent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Ceasers</a:t>
                      </a:r>
                      <a:r>
                        <a:rPr lang="en-US" sz="1400" dirty="0"/>
                        <a:t>, MLSE (Maple Leafs), Southwest, Marriott, Blackstone/ Turtle Bay Resorts, Trailways, </a:t>
                      </a:r>
                      <a:r>
                        <a:rPr lang="en-US" sz="1400" dirty="0" err="1"/>
                        <a:t>Hakasan</a:t>
                      </a:r>
                      <a:r>
                        <a:rPr lang="en-US" sz="1400" dirty="0"/>
                        <a:t>, Madison Sq Garden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0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High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29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Media &amp; Entertainment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Disney Plus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6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1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93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577125"/>
            <a:ext cx="11469189" cy="6116283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Your ideal buyer(s) - who helps make the decision?  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Buying committee / target titles: CMO/VP Marketing, CIO/CTO</a:t>
            </a:r>
            <a:br>
              <a:rPr lang="en-US" sz="2000" dirty="0"/>
            </a:br>
            <a:endParaRPr lang="en-US" sz="20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CMO/VP Marketing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Key characteristic(s) – 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Big challenges –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Role in buying process –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CIO/CTO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Key characteristic(s) –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Big challenges –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Role in buying process –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highlight>
                  <a:srgbClr val="FFFF00"/>
                </a:highlight>
              </a:rPr>
              <a:t>Examples of actual humans we can stalk on LinkedIn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TARGETING (ICP) – BUYER LEVEL</a:t>
            </a:r>
          </a:p>
        </p:txBody>
      </p:sp>
    </p:spTree>
    <p:extLst>
      <p:ext uri="{BB962C8B-B14F-4D97-AF65-F5344CB8AC3E}">
        <p14:creationId xmlns:p14="http://schemas.microsoft.com/office/powerpoint/2010/main" val="338839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1907"/>
            <a:ext cx="11887200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Buyer's Journey / CLIENT Journey : [TARGET ICP]</a:t>
            </a:r>
          </a:p>
        </p:txBody>
      </p:sp>
      <p:graphicFrame>
        <p:nvGraphicFramePr>
          <p:cNvPr id="13" name="Google Shape;135;p21">
            <a:extLst>
              <a:ext uri="{FF2B5EF4-FFF2-40B4-BE49-F238E27FC236}">
                <a16:creationId xmlns:a16="http://schemas.microsoft.com/office/drawing/2014/main" id="{F1EA2D98-E4C5-4360-BFB7-1C76774FA3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283890"/>
              </p:ext>
            </p:extLst>
          </p:nvPr>
        </p:nvGraphicFramePr>
        <p:xfrm>
          <a:off x="-8416" y="431796"/>
          <a:ext cx="12192000" cy="5413287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31264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29616082"/>
                    </a:ext>
                  </a:extLst>
                </a:gridCol>
              </a:tblGrid>
              <a:tr h="2379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  </a:t>
                      </a:r>
                      <a:endParaRPr sz="1600" b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Awareness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Consideration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Decision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 / Acquisition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Loyalty / Growth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Advocacy / Closure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is the buyer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 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thinking or feeling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is the buyer’s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action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or where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is the buyer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researching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b="1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Specific client/ buyer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challenges / pain points</a:t>
                      </a:r>
                      <a:endParaRPr sz="1200" b="1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341">
                <a:tc gridSpan="6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How will we </a:t>
                      </a:r>
                      <a:r>
                        <a:rPr lang="en-US" sz="1400" b="1" i="1" u="none" strike="noStrike" noProof="0">
                          <a:solidFill>
                            <a:schemeClr val="tx1"/>
                          </a:solidFill>
                        </a:rPr>
                        <a:t>move the buyer(s) along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lang="en-US" sz="1400" b="1" i="1" u="none" strike="noStrike" noProof="0">
                          <a:solidFill>
                            <a:schemeClr val="tx1"/>
                          </a:solidFill>
                        </a:rPr>
                        <a:t>the journey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with us in mind?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sz="1400" b="0" i="1" u="none" strike="noStrike" noProof="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406580"/>
                  </a:ext>
                </a:extLst>
              </a:tr>
              <a:tr h="436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Our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opportunities / goals to add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</a:rPr>
                        <a:t>value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 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venir"/>
                        </a:rPr>
                        <a:t>(financial, functional, symbolic, experiential)</a:t>
                      </a:r>
                      <a:endParaRPr sz="1050" b="0" i="1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5623021"/>
                  </a:ext>
                </a:extLst>
              </a:tr>
              <a:tr h="57498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Client’s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physical / digital / human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</a:rPr>
                        <a:t>touch points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with us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extLst>
                  <a:ext uri="{0D108BD9-81ED-4DB2-BD59-A6C34878D82A}">
                    <a16:rowId xmlns:a16="http://schemas.microsoft.com/office/drawing/2014/main" val="1893875129"/>
                  </a:ext>
                </a:extLst>
              </a:tr>
              <a:tr h="80158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Specific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assets / content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we have / want to build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extLst>
                  <a:ext uri="{0D108BD9-81ED-4DB2-BD59-A6C34878D82A}">
                    <a16:rowId xmlns:a16="http://schemas.microsoft.com/office/drawing/2014/main" val="74693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59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B18E79-FE87-90E6-C061-641AD62DC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CF764-0521-1531-DFED-C2BE4D5A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1/29/2024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5A383-43A0-04B0-9C50-EDB6459F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FB8C39-655A-72A3-FE8C-70490A46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working with SF BD teams</a:t>
            </a:r>
          </a:p>
        </p:txBody>
      </p:sp>
    </p:spTree>
    <p:extLst>
      <p:ext uri="{BB962C8B-B14F-4D97-AF65-F5344CB8AC3E}">
        <p14:creationId xmlns:p14="http://schemas.microsoft.com/office/powerpoint/2010/main" val="229424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1907"/>
            <a:ext cx="11887200" cy="274320"/>
          </a:xfrm>
        </p:spPr>
        <p:txBody>
          <a:bodyPr>
            <a:normAutofit fontScale="90000"/>
          </a:bodyPr>
          <a:lstStyle/>
          <a:p>
            <a:r>
              <a:rPr lang="en-US" dirty="0"/>
              <a:t>Buyer's Journey / CLIENT Journey : Salesforce Sales </a:t>
            </a:r>
            <a:r>
              <a:rPr lang="en-US" dirty="0" err="1"/>
              <a:t>REp</a:t>
            </a:r>
            <a:endParaRPr lang="en-US" dirty="0"/>
          </a:p>
        </p:txBody>
      </p:sp>
      <p:graphicFrame>
        <p:nvGraphicFramePr>
          <p:cNvPr id="13" name="Google Shape;135;p21">
            <a:extLst>
              <a:ext uri="{FF2B5EF4-FFF2-40B4-BE49-F238E27FC236}">
                <a16:creationId xmlns:a16="http://schemas.microsoft.com/office/drawing/2014/main" id="{F1EA2D98-E4C5-4360-BFB7-1C76774FA328}"/>
              </a:ext>
            </a:extLst>
          </p:cNvPr>
          <p:cNvGraphicFramePr/>
          <p:nvPr/>
        </p:nvGraphicFramePr>
        <p:xfrm>
          <a:off x="-8416" y="431796"/>
          <a:ext cx="12192000" cy="5413287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31264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29616082"/>
                    </a:ext>
                  </a:extLst>
                </a:gridCol>
              </a:tblGrid>
              <a:tr h="2379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  </a:t>
                      </a:r>
                      <a:endParaRPr sz="1600" b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Awareness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Consideration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Decision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 / Acquisition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Loyalty / Growth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venir"/>
                        </a:rPr>
                        <a:t>Advocacy / Closure</a:t>
                      </a:r>
                      <a:endParaRPr sz="14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is the buyer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 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thinking or feeling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is the buyer’s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action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What or where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is the buyer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researching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?</a:t>
                      </a:r>
                      <a:endParaRPr sz="1200" i="1">
                        <a:solidFill>
                          <a:schemeClr val="tx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b="1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121899" marR="121899" marT="121899" marB="1218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1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Specific client/ buyer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challenges / pain points</a:t>
                      </a:r>
                      <a:endParaRPr sz="1200" b="1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900" marR="121900" marT="121900" marB="121900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341">
                <a:tc gridSpan="6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How will we </a:t>
                      </a:r>
                      <a:r>
                        <a:rPr lang="en-US" sz="1400" b="1" i="1" u="none" strike="noStrike" noProof="0">
                          <a:solidFill>
                            <a:schemeClr val="tx1"/>
                          </a:solidFill>
                        </a:rPr>
                        <a:t>move the buyer(s) along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lang="en-US" sz="1400" b="1" i="1" u="none" strike="noStrike" noProof="0">
                          <a:solidFill>
                            <a:schemeClr val="tx1"/>
                          </a:solidFill>
                        </a:rPr>
                        <a:t>the journey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</a:rPr>
                        <a:t>with us in mind? </a:t>
                      </a:r>
                      <a:r>
                        <a:rPr lang="en-US" sz="1400" b="0" i="1" u="none" strike="noStrike" noProof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sz="1400" b="0" i="1" u="none" strike="noStrike" noProof="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34485A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406580"/>
                  </a:ext>
                </a:extLst>
              </a:tr>
              <a:tr h="436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Our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opportunities / goals to add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</a:rPr>
                        <a:t>value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 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venir"/>
                        </a:rPr>
                        <a:t>(financial, functional, symbolic, experiential)</a:t>
                      </a:r>
                      <a:endParaRPr sz="1050" b="0" i="1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9" marR="121899" marT="121899" marB="121899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5623021"/>
                  </a:ext>
                </a:extLst>
              </a:tr>
              <a:tr h="57498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Client’s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venir"/>
                        </a:rPr>
                        <a:t>physical / digital / human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</a:rPr>
                        <a:t>touch points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</a:rPr>
                        <a:t>with us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extLst>
                  <a:ext uri="{0D108BD9-81ED-4DB2-BD59-A6C34878D82A}">
                    <a16:rowId xmlns:a16="http://schemas.microsoft.com/office/drawing/2014/main" val="1893875129"/>
                  </a:ext>
                </a:extLst>
              </a:tr>
              <a:tr h="80158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Specific </a:t>
                      </a:r>
                      <a:r>
                        <a:rPr lang="en-US" sz="1200" b="1" u="sng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assets / content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venir"/>
                          <a:sym typeface="Avenir"/>
                        </a:rPr>
                        <a:t>we have / want to build</a:t>
                      </a:r>
                      <a:endParaRPr sz="1200">
                        <a:solidFill>
                          <a:schemeClr val="tx1"/>
                        </a:solidFill>
                        <a:latin typeface="Avenir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Franklin Gothic Book"/>
                        <a:sym typeface="Avenir"/>
                      </a:endParaRPr>
                    </a:p>
                  </a:txBody>
                  <a:tcPr marL="121898" marR="121898" marT="121898" marB="121898" anchor="ctr"/>
                </a:tc>
                <a:extLst>
                  <a:ext uri="{0D108BD9-81ED-4DB2-BD59-A6C34878D82A}">
                    <a16:rowId xmlns:a16="http://schemas.microsoft.com/office/drawing/2014/main" val="74693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0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5DE6A-FF09-85DA-67BF-453448FA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1/29/2024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A0F8C-15A4-CF9A-145B-B39B31F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8</a:t>
            </a:fld>
            <a:endParaRPr lang="en-US"/>
          </a:p>
        </p:txBody>
      </p:sp>
      <p:pic>
        <p:nvPicPr>
          <p:cNvPr id="6" name="Picture 6" descr="Table&#10;&#10;Description automatically generated">
            <a:extLst>
              <a:ext uri="{FF2B5EF4-FFF2-40B4-BE49-F238E27FC236}">
                <a16:creationId xmlns:a16="http://schemas.microsoft.com/office/drawing/2014/main" id="{7044AD7B-C321-12AA-6677-ECBB4F7FD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36" y="107865"/>
            <a:ext cx="8693522" cy="626127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834C3E4-3611-1C95-DEFF-00B6EB342CF8}"/>
              </a:ext>
            </a:extLst>
          </p:cNvPr>
          <p:cNvSpPr/>
          <p:nvPr/>
        </p:nvSpPr>
        <p:spPr>
          <a:xfrm>
            <a:off x="4540624" y="1604682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129369-EB26-6C84-CFE6-414CB4BA4783}"/>
              </a:ext>
            </a:extLst>
          </p:cNvPr>
          <p:cNvSpPr/>
          <p:nvPr/>
        </p:nvSpPr>
        <p:spPr>
          <a:xfrm>
            <a:off x="4540624" y="3229535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25D86A-FA66-4ECC-97A3-5D08071A5D01}"/>
              </a:ext>
            </a:extLst>
          </p:cNvPr>
          <p:cNvSpPr/>
          <p:nvPr/>
        </p:nvSpPr>
        <p:spPr>
          <a:xfrm>
            <a:off x="4574241" y="2254622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49C2AE-B100-55E7-E8E1-107587DBA662}"/>
              </a:ext>
            </a:extLst>
          </p:cNvPr>
          <p:cNvSpPr/>
          <p:nvPr/>
        </p:nvSpPr>
        <p:spPr>
          <a:xfrm>
            <a:off x="4540624" y="2893358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A7FDC7-DE1E-35B8-107A-5901048C4FF4}"/>
              </a:ext>
            </a:extLst>
          </p:cNvPr>
          <p:cNvSpPr/>
          <p:nvPr/>
        </p:nvSpPr>
        <p:spPr>
          <a:xfrm>
            <a:off x="4540623" y="3565711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46D231-3F69-06A9-60FD-6E008B23E8DB}"/>
              </a:ext>
            </a:extLst>
          </p:cNvPr>
          <p:cNvSpPr/>
          <p:nvPr/>
        </p:nvSpPr>
        <p:spPr>
          <a:xfrm>
            <a:off x="6165477" y="2893358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19E347-CA70-CF33-2D06-7523023D938E}"/>
              </a:ext>
            </a:extLst>
          </p:cNvPr>
          <p:cNvSpPr/>
          <p:nvPr/>
        </p:nvSpPr>
        <p:spPr>
          <a:xfrm>
            <a:off x="6165476" y="1907240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D919A8-B2C7-38E8-CDCA-599E38B5B711}"/>
              </a:ext>
            </a:extLst>
          </p:cNvPr>
          <p:cNvSpPr/>
          <p:nvPr/>
        </p:nvSpPr>
        <p:spPr>
          <a:xfrm>
            <a:off x="6165477" y="3532093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C51EF0-312F-5713-FF79-BE3F89D0E7DC}"/>
              </a:ext>
            </a:extLst>
          </p:cNvPr>
          <p:cNvSpPr/>
          <p:nvPr/>
        </p:nvSpPr>
        <p:spPr>
          <a:xfrm>
            <a:off x="6165476" y="3868269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6FF385-625B-0C64-7A24-E023ABE3D195}"/>
              </a:ext>
            </a:extLst>
          </p:cNvPr>
          <p:cNvSpPr/>
          <p:nvPr/>
        </p:nvSpPr>
        <p:spPr>
          <a:xfrm>
            <a:off x="6199094" y="4170829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CB6094-025C-6945-4C24-4E5E6A48E3B7}"/>
              </a:ext>
            </a:extLst>
          </p:cNvPr>
          <p:cNvSpPr/>
          <p:nvPr/>
        </p:nvSpPr>
        <p:spPr>
          <a:xfrm>
            <a:off x="7756712" y="1907240"/>
            <a:ext cx="1015252" cy="29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76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 CLIENT PERSONA – OPTIONAL DEEP DIVE</a:t>
            </a:r>
          </a:p>
        </p:txBody>
      </p:sp>
      <p:sp>
        <p:nvSpPr>
          <p:cNvPr id="8" name="Google Shape;296;p33">
            <a:extLst>
              <a:ext uri="{FF2B5EF4-FFF2-40B4-BE49-F238E27FC236}">
                <a16:creationId xmlns:a16="http://schemas.microsoft.com/office/drawing/2014/main" id="{054B27E1-93B8-4286-AEB7-D7D3FA85A252}"/>
              </a:ext>
            </a:extLst>
          </p:cNvPr>
          <p:cNvSpPr/>
          <p:nvPr/>
        </p:nvSpPr>
        <p:spPr>
          <a:xfrm>
            <a:off x="230125" y="2003840"/>
            <a:ext cx="2784312" cy="3895071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9" name="Google Shape;297;p33">
            <a:extLst>
              <a:ext uri="{FF2B5EF4-FFF2-40B4-BE49-F238E27FC236}">
                <a16:creationId xmlns:a16="http://schemas.microsoft.com/office/drawing/2014/main" id="{BAEFA2C8-63E9-4B1B-8EC7-B4F27B4C5B20}"/>
              </a:ext>
            </a:extLst>
          </p:cNvPr>
          <p:cNvSpPr txBox="1"/>
          <p:nvPr/>
        </p:nvSpPr>
        <p:spPr>
          <a:xfrm>
            <a:off x="169025" y="530550"/>
            <a:ext cx="26058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" sz="40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First</a:t>
            </a:r>
            <a:endParaRPr sz="40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" sz="4000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Last</a:t>
            </a:r>
            <a:endParaRPr sz="4000" i="0" u="none" strike="noStrike" cap="none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307;p33">
            <a:extLst>
              <a:ext uri="{FF2B5EF4-FFF2-40B4-BE49-F238E27FC236}">
                <a16:creationId xmlns:a16="http://schemas.microsoft.com/office/drawing/2014/main" id="{EE43183D-DB32-4FBE-9AC2-24EBAF6718EA}"/>
              </a:ext>
            </a:extLst>
          </p:cNvPr>
          <p:cNvSpPr txBox="1"/>
          <p:nvPr/>
        </p:nvSpPr>
        <p:spPr>
          <a:xfrm>
            <a:off x="391538" y="1995540"/>
            <a:ext cx="20646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i="0" u="none" strike="noStrike" cap="none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Background</a:t>
            </a:r>
            <a:endParaRPr sz="1600" i="0" u="none" strike="noStrike" cap="none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308;p33">
            <a:extLst>
              <a:ext uri="{FF2B5EF4-FFF2-40B4-BE49-F238E27FC236}">
                <a16:creationId xmlns:a16="http://schemas.microsoft.com/office/drawing/2014/main" id="{2786EE55-0481-4371-90F7-4F83137FB585}"/>
              </a:ext>
            </a:extLst>
          </p:cNvPr>
          <p:cNvSpPr txBox="1"/>
          <p:nvPr/>
        </p:nvSpPr>
        <p:spPr>
          <a:xfrm>
            <a:off x="466398" y="2379870"/>
            <a:ext cx="235359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—"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Job</a:t>
            </a:r>
          </a:p>
          <a:p>
            <a:pPr marL="228600" marR="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—"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Career path</a:t>
            </a:r>
          </a:p>
          <a:p>
            <a:pPr marL="63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</a:pPr>
            <a:endParaRPr lang="en-US"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309;p33">
            <a:extLst>
              <a:ext uri="{FF2B5EF4-FFF2-40B4-BE49-F238E27FC236}">
                <a16:creationId xmlns:a16="http://schemas.microsoft.com/office/drawing/2014/main" id="{4042F1F7-CCDD-41DE-B9F6-F0989A663A72}"/>
              </a:ext>
            </a:extLst>
          </p:cNvPr>
          <p:cNvSpPr txBox="1"/>
          <p:nvPr/>
        </p:nvSpPr>
        <p:spPr>
          <a:xfrm>
            <a:off x="377675" y="3193929"/>
            <a:ext cx="2280900" cy="2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i="0" u="none" strike="noStrike" cap="none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Demographics</a:t>
            </a:r>
            <a:endParaRPr sz="1600" i="0" u="none" strike="noStrike" cap="none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310;p33">
            <a:extLst>
              <a:ext uri="{FF2B5EF4-FFF2-40B4-BE49-F238E27FC236}">
                <a16:creationId xmlns:a16="http://schemas.microsoft.com/office/drawing/2014/main" id="{E03CDBE0-98EF-4E07-BF63-74CC2B0BF147}"/>
              </a:ext>
            </a:extLst>
          </p:cNvPr>
          <p:cNvSpPr txBox="1"/>
          <p:nvPr/>
        </p:nvSpPr>
        <p:spPr>
          <a:xfrm>
            <a:off x="467761" y="3636531"/>
            <a:ext cx="2190814" cy="65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2250">
              <a:buClr>
                <a:srgbClr val="434343"/>
              </a:buClr>
              <a:buSzPts val="1000"/>
              <a:buFont typeface="Montserrat"/>
              <a:buChar char="—"/>
            </a:pPr>
            <a:r>
              <a:rPr lang="en-US" sz="1100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Age</a:t>
            </a:r>
          </a:p>
          <a:p>
            <a:pPr marL="228600" indent="-222250">
              <a:buClr>
                <a:srgbClr val="434343"/>
              </a:buClr>
              <a:buSzPts val="1000"/>
              <a:buFont typeface="Montserrat"/>
              <a:buChar char="—"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Income</a:t>
            </a:r>
          </a:p>
          <a:p>
            <a:pPr marL="228600" indent="-222250">
              <a:buClr>
                <a:srgbClr val="434343"/>
              </a:buClr>
              <a:buSzPts val="1000"/>
              <a:buFont typeface="Montserrat"/>
              <a:buChar char="—"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Location</a:t>
            </a: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11;p33">
            <a:extLst>
              <a:ext uri="{FF2B5EF4-FFF2-40B4-BE49-F238E27FC236}">
                <a16:creationId xmlns:a16="http://schemas.microsoft.com/office/drawing/2014/main" id="{2249937E-1840-4B90-A3B0-4513D305F506}"/>
              </a:ext>
            </a:extLst>
          </p:cNvPr>
          <p:cNvSpPr txBox="1"/>
          <p:nvPr/>
        </p:nvSpPr>
        <p:spPr>
          <a:xfrm>
            <a:off x="377675" y="4568810"/>
            <a:ext cx="2399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Technology/Social</a:t>
            </a:r>
            <a:r>
              <a:rPr lang="en" sz="16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 </a:t>
            </a:r>
            <a:r>
              <a:rPr lang="en" sz="16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Media</a:t>
            </a:r>
            <a:br>
              <a:rPr lang="en" sz="16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</a:br>
            <a:r>
              <a:rPr lang="en-US" sz="1100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Device preferences? Social media platforms? Tech savvy?</a:t>
            </a:r>
            <a:endParaRPr sz="1100" i="0" u="none" strike="noStrike" cap="none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298;p33">
            <a:extLst>
              <a:ext uri="{FF2B5EF4-FFF2-40B4-BE49-F238E27FC236}">
                <a16:creationId xmlns:a16="http://schemas.microsoft.com/office/drawing/2014/main" id="{3013FE09-FC34-4AC9-9BA0-7E387791280C}"/>
              </a:ext>
            </a:extLst>
          </p:cNvPr>
          <p:cNvSpPr/>
          <p:nvPr/>
        </p:nvSpPr>
        <p:spPr>
          <a:xfrm>
            <a:off x="3209544" y="619445"/>
            <a:ext cx="4197096" cy="3031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38" name="Google Shape;299;p33">
            <a:extLst>
              <a:ext uri="{FF2B5EF4-FFF2-40B4-BE49-F238E27FC236}">
                <a16:creationId xmlns:a16="http://schemas.microsoft.com/office/drawing/2014/main" id="{F8E9F37B-E4A6-469D-BEE4-E30E7C373113}"/>
              </a:ext>
            </a:extLst>
          </p:cNvPr>
          <p:cNvSpPr/>
          <p:nvPr/>
        </p:nvSpPr>
        <p:spPr>
          <a:xfrm>
            <a:off x="3230088" y="3795724"/>
            <a:ext cx="8710461" cy="2442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41" name="Google Shape;302;p33">
            <a:extLst>
              <a:ext uri="{FF2B5EF4-FFF2-40B4-BE49-F238E27FC236}">
                <a16:creationId xmlns:a16="http://schemas.microsoft.com/office/drawing/2014/main" id="{301BBCD5-590A-499A-A1C8-B4686A309E3F}"/>
              </a:ext>
            </a:extLst>
          </p:cNvPr>
          <p:cNvSpPr/>
          <p:nvPr/>
        </p:nvSpPr>
        <p:spPr>
          <a:xfrm>
            <a:off x="7646252" y="619445"/>
            <a:ext cx="4294298" cy="30317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12;p33">
            <a:extLst>
              <a:ext uri="{FF2B5EF4-FFF2-40B4-BE49-F238E27FC236}">
                <a16:creationId xmlns:a16="http://schemas.microsoft.com/office/drawing/2014/main" id="{35A08AE7-4692-4AFE-8E97-05D25E8F2CFD}"/>
              </a:ext>
            </a:extLst>
          </p:cNvPr>
          <p:cNvSpPr txBox="1"/>
          <p:nvPr/>
        </p:nvSpPr>
        <p:spPr>
          <a:xfrm>
            <a:off x="3331489" y="711403"/>
            <a:ext cx="3881758" cy="284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Goals/Metrics/Motivations</a:t>
            </a:r>
            <a:br>
              <a:rPr lang="en" sz="2400" b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</a:br>
            <a:r>
              <a:rPr lang="en" sz="1100" i="1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Primary/secondary goals? Personal vs professional goals? Top metrics they track? Motivations?</a:t>
            </a:r>
            <a:endParaRPr sz="1100" i="1" u="none" strike="noStrike" cap="none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Tx/>
              <a:buChar char="-"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Text</a:t>
            </a: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Tx/>
              <a:buChar char="-"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313;p33">
            <a:extLst>
              <a:ext uri="{FF2B5EF4-FFF2-40B4-BE49-F238E27FC236}">
                <a16:creationId xmlns:a16="http://schemas.microsoft.com/office/drawing/2014/main" id="{DD1D3C11-58D8-44D2-B49F-923EFA18FCCC}"/>
              </a:ext>
            </a:extLst>
          </p:cNvPr>
          <p:cNvSpPr txBox="1"/>
          <p:nvPr/>
        </p:nvSpPr>
        <p:spPr>
          <a:xfrm>
            <a:off x="3331489" y="3795725"/>
            <a:ext cx="8468972" cy="244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What can we do?</a:t>
            </a:r>
            <a:br>
              <a:rPr lang="en" sz="1600" b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</a:b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...to help our persona achieve their goals? ...to help our persona overcome their challenges?</a:t>
            </a:r>
            <a:b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</a:br>
            <a:endParaRPr lang="en-US"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Tx/>
              <a:buChar char="-"/>
            </a:pPr>
            <a:r>
              <a:rPr lang="en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We help you…</a:t>
            </a: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314;p33">
            <a:extLst>
              <a:ext uri="{FF2B5EF4-FFF2-40B4-BE49-F238E27FC236}">
                <a16:creationId xmlns:a16="http://schemas.microsoft.com/office/drawing/2014/main" id="{F50D9BA6-34A8-4500-8C91-23C45AA3E926}"/>
              </a:ext>
            </a:extLst>
          </p:cNvPr>
          <p:cNvSpPr txBox="1"/>
          <p:nvPr/>
        </p:nvSpPr>
        <p:spPr>
          <a:xfrm>
            <a:off x="7775029" y="686670"/>
            <a:ext cx="3950573" cy="285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Challenges</a:t>
            </a:r>
            <a:br>
              <a:rPr lang="en" sz="2400" b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</a:b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What does this person struggle with in relation to meeting goals? What serves as a roadblock for this person’s success?</a:t>
            </a:r>
            <a:endParaRPr sz="1100" i="1" u="none" strike="noStrike" cap="none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Tx/>
              <a:buChar char="-"/>
            </a:pPr>
            <a:r>
              <a:rPr lang="en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Text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lang="en"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CB17471B-A011-4C47-9BF3-DC1F8A85F7B8}"/>
              </a:ext>
            </a:extLst>
          </p:cNvPr>
          <p:cNvSpPr txBox="1">
            <a:spLocks/>
          </p:cNvSpPr>
          <p:nvPr/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139" rtl="0" eaLnBrk="1" latinLnBrk="0" hangingPunct="1">
              <a:defRPr sz="900" b="1" i="0" kern="1200" spc="99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39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1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6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61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8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7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7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5" algn="l" defTabSz="457139" rtl="0" eaLnBrk="1" latinLnBrk="0" hangingPunct="1"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4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 CLIENT PERSONA – OPTIONAL DEEP DIVE</a:t>
            </a:r>
          </a:p>
        </p:txBody>
      </p:sp>
      <p:sp>
        <p:nvSpPr>
          <p:cNvPr id="34" name="Google Shape;330;p34">
            <a:extLst>
              <a:ext uri="{FF2B5EF4-FFF2-40B4-BE49-F238E27FC236}">
                <a16:creationId xmlns:a16="http://schemas.microsoft.com/office/drawing/2014/main" id="{809E810D-B030-40EA-BE00-C8C96B6AE8AC}"/>
              </a:ext>
            </a:extLst>
          </p:cNvPr>
          <p:cNvSpPr/>
          <p:nvPr/>
        </p:nvSpPr>
        <p:spPr>
          <a:xfrm>
            <a:off x="382525" y="1311624"/>
            <a:ext cx="3791910" cy="4607913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31;p34">
            <a:extLst>
              <a:ext uri="{FF2B5EF4-FFF2-40B4-BE49-F238E27FC236}">
                <a16:creationId xmlns:a16="http://schemas.microsoft.com/office/drawing/2014/main" id="{3D78A70A-4CCB-4580-ABCE-54649B43819F}"/>
              </a:ext>
            </a:extLst>
          </p:cNvPr>
          <p:cNvSpPr txBox="1"/>
          <p:nvPr/>
        </p:nvSpPr>
        <p:spPr>
          <a:xfrm>
            <a:off x="331450" y="510836"/>
            <a:ext cx="4065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" sz="4000" b="1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First</a:t>
            </a:r>
            <a:r>
              <a:rPr lang="en" sz="40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 </a:t>
            </a:r>
            <a:r>
              <a:rPr lang="en" sz="4000" i="0" u="none" strike="noStrike" cap="none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Last</a:t>
            </a:r>
            <a:endParaRPr sz="4000" i="0" u="none" strike="noStrike" cap="none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32;p34">
            <a:extLst>
              <a:ext uri="{FF2B5EF4-FFF2-40B4-BE49-F238E27FC236}">
                <a16:creationId xmlns:a16="http://schemas.microsoft.com/office/drawing/2014/main" id="{DE953A1B-48B9-4922-9E63-39C2CB6F4DC3}"/>
              </a:ext>
            </a:extLst>
          </p:cNvPr>
          <p:cNvSpPr txBox="1"/>
          <p:nvPr/>
        </p:nvSpPr>
        <p:spPr>
          <a:xfrm>
            <a:off x="472378" y="1333125"/>
            <a:ext cx="2791521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Common Objections</a:t>
            </a:r>
            <a:endParaRPr sz="1600" i="0" u="none" strike="noStrike" cap="none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333;p34">
            <a:extLst>
              <a:ext uri="{FF2B5EF4-FFF2-40B4-BE49-F238E27FC236}">
                <a16:creationId xmlns:a16="http://schemas.microsoft.com/office/drawing/2014/main" id="{E43F0309-FE2C-4F89-B1D6-227BE7C7D025}"/>
              </a:ext>
            </a:extLst>
          </p:cNvPr>
          <p:cNvSpPr txBox="1"/>
          <p:nvPr/>
        </p:nvSpPr>
        <p:spPr>
          <a:xfrm>
            <a:off x="528727" y="1686969"/>
            <a:ext cx="3380708" cy="3859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Why </a:t>
            </a:r>
            <a:r>
              <a:rPr lang="en" sz="1100" b="1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wouldn’t</a:t>
            </a: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 they buy our services? What is the alternative?</a:t>
            </a:r>
            <a:endParaRPr sz="1100" i="1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Text</a:t>
            </a:r>
            <a:endParaRPr sz="1100" b="1" i="1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334;p34">
            <a:extLst>
              <a:ext uri="{FF2B5EF4-FFF2-40B4-BE49-F238E27FC236}">
                <a16:creationId xmlns:a16="http://schemas.microsoft.com/office/drawing/2014/main" id="{CA808407-21AE-4C8C-86AB-78FC6D2ACC5F}"/>
              </a:ext>
            </a:extLst>
          </p:cNvPr>
          <p:cNvSpPr/>
          <p:nvPr/>
        </p:nvSpPr>
        <p:spPr>
          <a:xfrm>
            <a:off x="4296664" y="1311626"/>
            <a:ext cx="3791910" cy="460791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venir"/>
              <a:ea typeface="Arial"/>
              <a:cs typeface="Arial"/>
              <a:sym typeface="Arial"/>
            </a:endParaRPr>
          </a:p>
        </p:txBody>
      </p:sp>
      <p:sp>
        <p:nvSpPr>
          <p:cNvPr id="61" name="Google Shape;335;p34">
            <a:extLst>
              <a:ext uri="{FF2B5EF4-FFF2-40B4-BE49-F238E27FC236}">
                <a16:creationId xmlns:a16="http://schemas.microsoft.com/office/drawing/2014/main" id="{482105A6-2929-4235-99E6-32353563AACC}"/>
              </a:ext>
            </a:extLst>
          </p:cNvPr>
          <p:cNvSpPr txBox="1"/>
          <p:nvPr/>
        </p:nvSpPr>
        <p:spPr>
          <a:xfrm>
            <a:off x="4466025" y="1333125"/>
            <a:ext cx="3072674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Marketing Messaging</a:t>
            </a:r>
            <a:endParaRPr sz="1600" i="0" u="none" strike="noStrike" cap="none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336;p34">
            <a:extLst>
              <a:ext uri="{FF2B5EF4-FFF2-40B4-BE49-F238E27FC236}">
                <a16:creationId xmlns:a16="http://schemas.microsoft.com/office/drawing/2014/main" id="{8542FB6A-3B9B-4559-8252-68EDE3F6F304}"/>
              </a:ext>
            </a:extLst>
          </p:cNvPr>
          <p:cNvSpPr txBox="1"/>
          <p:nvPr/>
        </p:nvSpPr>
        <p:spPr>
          <a:xfrm>
            <a:off x="4480906" y="1686969"/>
            <a:ext cx="3423425" cy="405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How can you describe our services to have the </a:t>
            </a:r>
            <a:r>
              <a:rPr lang="en" sz="1100" b="1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biggest impact </a:t>
            </a: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on our persona? What </a:t>
            </a:r>
            <a:r>
              <a:rPr lang="en" sz="1100" b="1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resonates most </a:t>
            </a: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with our persona?</a:t>
            </a:r>
            <a:endParaRPr sz="1100" i="1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Text</a:t>
            </a: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337;p34">
            <a:extLst>
              <a:ext uri="{FF2B5EF4-FFF2-40B4-BE49-F238E27FC236}">
                <a16:creationId xmlns:a16="http://schemas.microsoft.com/office/drawing/2014/main" id="{795473CC-607D-476C-BE7C-A7E9A9C44D28}"/>
              </a:ext>
            </a:extLst>
          </p:cNvPr>
          <p:cNvSpPr/>
          <p:nvPr/>
        </p:nvSpPr>
        <p:spPr>
          <a:xfrm>
            <a:off x="8210800" y="1311625"/>
            <a:ext cx="3791910" cy="4607913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38;p34">
            <a:extLst>
              <a:ext uri="{FF2B5EF4-FFF2-40B4-BE49-F238E27FC236}">
                <a16:creationId xmlns:a16="http://schemas.microsoft.com/office/drawing/2014/main" id="{436B1316-7559-4CDF-99B6-0EE240266138}"/>
              </a:ext>
            </a:extLst>
          </p:cNvPr>
          <p:cNvSpPr txBox="1"/>
          <p:nvPr/>
        </p:nvSpPr>
        <p:spPr>
          <a:xfrm>
            <a:off x="8300657" y="1333125"/>
            <a:ext cx="3029952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" sz="1600" b="1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Elevator Pitch</a:t>
            </a:r>
            <a:endParaRPr sz="1600" i="0" u="none" strike="noStrike" cap="none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339;p34">
            <a:extLst>
              <a:ext uri="{FF2B5EF4-FFF2-40B4-BE49-F238E27FC236}">
                <a16:creationId xmlns:a16="http://schemas.microsoft.com/office/drawing/2014/main" id="{77EBC51B-B8DA-4EE8-B866-6D55993BBDC5}"/>
              </a:ext>
            </a:extLst>
          </p:cNvPr>
          <p:cNvSpPr txBox="1"/>
          <p:nvPr/>
        </p:nvSpPr>
        <p:spPr>
          <a:xfrm>
            <a:off x="8350908" y="1686969"/>
            <a:ext cx="3511693" cy="405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Sell our persona on our services - in a sentence or a few words.</a:t>
            </a:r>
            <a:endParaRPr sz="1100" i="1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 dirty="0">
                <a:solidFill>
                  <a:srgbClr val="434343"/>
                </a:solidFill>
                <a:latin typeface="Avenir"/>
                <a:ea typeface="Montserrat"/>
                <a:cs typeface="Montserrat"/>
                <a:sym typeface="Montserrat"/>
              </a:rPr>
              <a:t>Text</a:t>
            </a:r>
            <a:endParaRPr sz="1100" dirty="0">
              <a:solidFill>
                <a:srgbClr val="434343"/>
              </a:solidFill>
              <a:latin typeface="Avenir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D87E8FE-7F88-40FE-8F60-0841636F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1/29/2024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95CCF732-0AA7-47BE-AC17-39C31DF8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713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LB Template v1">
  <a:themeElements>
    <a:clrScheme name="The Launch Box 1">
      <a:dk1>
        <a:srgbClr val="000000"/>
      </a:dk1>
      <a:lt1>
        <a:srgbClr val="FFFFFF"/>
      </a:lt1>
      <a:dk2>
        <a:srgbClr val="6C808B"/>
      </a:dk2>
      <a:lt2>
        <a:srgbClr val="F2F2F2"/>
      </a:lt2>
      <a:accent1>
        <a:srgbClr val="FF0000"/>
      </a:accent1>
      <a:accent2>
        <a:srgbClr val="FF6600"/>
      </a:accent2>
      <a:accent3>
        <a:srgbClr val="33FFFF"/>
      </a:accent3>
      <a:accent4>
        <a:srgbClr val="33FF66"/>
      </a:accent4>
      <a:accent5>
        <a:srgbClr val="FFEB0D"/>
      </a:accent5>
      <a:accent6>
        <a:srgbClr val="FF1D1D"/>
      </a:accent6>
      <a:hlink>
        <a:srgbClr val="FF3300"/>
      </a:hlink>
      <a:folHlink>
        <a:srgbClr val="FF66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BCBC63-6785-478C-A274-57B40CD2A4C8}">
  <ds:schemaRefs>
    <ds:schemaRef ds:uri="http://schemas.microsoft.com/office/2006/metadata/properties"/>
    <ds:schemaRef ds:uri="http://schemas.microsoft.com/office/infopath/2007/PartnerControls"/>
    <ds:schemaRef ds:uri="7c1b799b-9263-4874-b153-9fe32b96900c"/>
    <ds:schemaRef ds:uri="7da7bdb0-dc76-4f10-9703-507b55c992fc"/>
  </ds:schemaRefs>
</ds:datastoreItem>
</file>

<file path=customXml/itemProps2.xml><?xml version="1.0" encoding="utf-8"?>
<ds:datastoreItem xmlns:ds="http://schemas.openxmlformats.org/officeDocument/2006/customXml" ds:itemID="{5D59C14E-B268-41C9-8A6E-3C9F662CA2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a7bdb0-dc76-4f10-9703-507b55c992fc"/>
    <ds:schemaRef ds:uri="7c1b799b-9263-4874-b153-9fe32b9690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E30C51-6563-4520-9980-F16ACCB015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2754</TotalTime>
  <Words>966</Words>
  <Application>Microsoft Office PowerPoint</Application>
  <PresentationFormat>Widescreen</PresentationFormat>
  <Paragraphs>151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TLB Template v1</vt:lpstr>
      <vt:lpstr> Blue Trail Digital  Targeting (ICP) brainstorm</vt:lpstr>
      <vt:lpstr>PowerPoint Presentation</vt:lpstr>
      <vt:lpstr>BASIC TARGETING (ICP) – Direct outreach, COMPANY LEVEL</vt:lpstr>
      <vt:lpstr>BASIC TARGETING (ICP) – BUYER LEVEL</vt:lpstr>
      <vt:lpstr>Buyer's Journey / CLIENT Journey : [TARGET ICP]</vt:lpstr>
      <vt:lpstr>Process of working with SF BD teams</vt:lpstr>
      <vt:lpstr>Buyer's Journey / CLIENT Journey : Salesforce Sales REp</vt:lpstr>
      <vt:lpstr>PowerPoint Presentation</vt:lpstr>
      <vt:lpstr>TARGET CLIENT PERSONA – OPTIONAL DEEP DIVE</vt:lpstr>
      <vt:lpstr>TARGET CLIENT PERSONA – OPTIONAL DEEP DIVE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Amy Kenly</cp:lastModifiedBy>
  <cp:revision>19</cp:revision>
  <dcterms:created xsi:type="dcterms:W3CDTF">2021-05-18T20:01:59Z</dcterms:created>
  <dcterms:modified xsi:type="dcterms:W3CDTF">2024-01-29T19:50:31Z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